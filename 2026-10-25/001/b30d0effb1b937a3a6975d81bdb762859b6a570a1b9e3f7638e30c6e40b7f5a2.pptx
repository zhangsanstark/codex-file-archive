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db10a248948f7" /><Relationship Type="http://schemas.openxmlformats.org/officeDocument/2006/relationships/extended-properties" Target="/docProps/app.xml" Id="Ra31aee1a877d4fad" /><Relationship Type="http://schemas.openxmlformats.org/officeDocument/2006/relationships/officeDocument" Target="/ppt/presentation.xml" Id="R5eca6aebd700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241e795ed420b"/>
  </p:sldMasterIdLst>
  <p:notesMasterIdLst>
    <p:notesMasterId xmlns:r="http://schemas.openxmlformats.org/officeDocument/2006/relationships" r:id="R3370d5babfb74a56"/>
  </p:notesMasterIdLst>
  <p:sldIdLst>
    <p:sldId xmlns:r="http://schemas.openxmlformats.org/officeDocument/2006/relationships" id="256" r:id="Rd972c33cd84e4195"/>
    <p:sldId xmlns:r="http://schemas.openxmlformats.org/officeDocument/2006/relationships" id="257" r:id="R7bdff5dcc6254ab3"/>
    <p:sldId xmlns:r="http://schemas.openxmlformats.org/officeDocument/2006/relationships" id="258" r:id="Rf9052ebbfaa34467"/>
    <p:sldId xmlns:r="http://schemas.openxmlformats.org/officeDocument/2006/relationships" id="259" r:id="Rf718f67db1ed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7352bef3d540b7" /><Relationship Type="http://schemas.openxmlformats.org/officeDocument/2006/relationships/slideMaster" Target="/ppt/slideMasters/slideMaster1.xml" Id="Rf40241e795ed420b" /><Relationship Type="http://schemas.openxmlformats.org/officeDocument/2006/relationships/notesMaster" Target="/ppt/notesMasters/notesMaster1.xml" Id="R3370d5babfb74a56" /><Relationship Type="http://schemas.openxmlformats.org/officeDocument/2006/relationships/presProps" Target="/ppt/presProps.xml" Id="Rfef1bf334ef948e8" /><Relationship Type="http://schemas.openxmlformats.org/officeDocument/2006/relationships/tableStyles" Target="/ppt/tableStyles.xml" Id="Re369eadc56a74dcf" /><Relationship Type="http://schemas.openxmlformats.org/officeDocument/2006/relationships/slide" Target="/ppt/slides/slide1.xml" Id="Rd972c33cd84e4195" /><Relationship Type="http://schemas.openxmlformats.org/officeDocument/2006/relationships/slide" Target="/ppt/slides/slide2.xml" Id="R7bdff5dcc6254ab3" /><Relationship Type="http://schemas.openxmlformats.org/officeDocument/2006/relationships/slide" Target="/ppt/slides/slide3.xml" Id="Rf9052ebbfaa34467" /><Relationship Type="http://schemas.openxmlformats.org/officeDocument/2006/relationships/slide" Target="/ppt/slides/slide4.xml" Id="Rf718f67db1ed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26e5ffb4c45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23368faee4bea" /><Relationship Type="http://schemas.openxmlformats.org/officeDocument/2006/relationships/notesMaster" Target="/ppt/notesMasters/notesMaster1.xml" Id="Rcee66d04d71a43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d1277873034af5" /><Relationship Type="http://schemas.openxmlformats.org/officeDocument/2006/relationships/notesMaster" Target="/ppt/notesMasters/notesMaster1.xml" Id="Rab28478487d443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63b83e5a441c9" /><Relationship Type="http://schemas.openxmlformats.org/officeDocument/2006/relationships/notesMaster" Target="/ppt/notesMasters/notesMaster1.xml" Id="Ra00b1a2cb32e48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8193c7a5694cb1" /><Relationship Type="http://schemas.openxmlformats.org/officeDocument/2006/relationships/notesMaster" Target="/ppt/notesMasters/notesMaster1.xml" Id="Re2177aeba8134c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文本版权 Skill 已于周一交付初版，尚未测试。文本版权 Answer 审核的新增数据尚未交付，代码变更尚未开发。图片版权关键字暂无变更。图片 IP 审核模型近期调整审核范围，同时调整自测测试集与评估口径。来源：用户提供的近期工作进展。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范围调整包含缩减、新增、合并与待加入四部分。新增分类的数据已标注完成，但尚未加入训练集。缩减对象中的自杀小队小丑与合并分类中的小丑同时保留，避免概括成删除整个小丑类别。梦工厂与迪士尼括号中的范围沿用现有分类口径。来源：用户提供的分类调整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此前的指标以测试团队构建的测试集为准，各分类样本量从几张到几十张不等，并且只划分一级大类，未划分到单个 IP。本次自测测试集按单个 IP 划分，每个 IP 20 张以上，分布更均匀。目前已训练多个模型。来源：用户提供的测试集与训练进展。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下一步将新增分类纳入训练，逐张复核第一批图片并统一分类特征，深入分析模型推理结果以优化模型。第二批图片指 9—10 月图片，已逐张审核且质量较高。第一批图片比较杂，虽已经过几轮过滤，逐张复核仍是后续计划。当前完成的是数据准备和初步训练，尚未深入优化。困难包括日本动漫二维手绘形象特征不易统一，以及生成图片与 IP 的相似度判断存在较强主观性。分类超过 100 个，需要逐张审核，标注人员变更后需要重新培训，时间成本高。来源：用户提供的规划与困难。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ff56fdd9e41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503dbd75f46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da4ea59cb43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d09a581764e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11481d9f949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5295d795e4e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6183CC-522A-4DAB-BA50-F35F6D16E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B2F134-BE96-4A44-9FBF-D9784C1727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1375F2-9B93-4EA0-BA48-9DAB31325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4AD25-14A8-489E-B70D-CD90F9BBE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5770F1-8619-4F96-8CB8-FCC883210E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65B499-9461-4EFC-95A7-E0A138073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58F129-AC47-41B3-9063-A98C47081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C81C5E-10E2-4E61-826C-EF57496D2F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0D6BA3-DE4B-43F4-9EBD-B95F70C3A5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2B7564-FD3B-4165-B549-5100C06724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c88ed0c9bd4253" /><Relationship Type="http://schemas.openxmlformats.org/officeDocument/2006/relationships/slideLayout" Target="/ppt/slideLayouts/slideLayout1.xml" Id="Raa5fef97602a483c" /><Relationship Type="http://schemas.openxmlformats.org/officeDocument/2006/relationships/slideLayout" Target="/ppt/slideLayouts/slideLayout2.xml" Id="R44f0111eca134879" /><Relationship Type="http://schemas.openxmlformats.org/officeDocument/2006/relationships/slideLayout" Target="/ppt/slideLayouts/slideLayout3.xml" Id="Rffd9a790cf98486f" /><Relationship Type="http://schemas.openxmlformats.org/officeDocument/2006/relationships/slideLayout" Target="/ppt/slideLayouts/slideLayout4.xml" Id="R0fe39d13c65c4bef" /><Relationship Type="http://schemas.openxmlformats.org/officeDocument/2006/relationships/slideLayout" Target="/ppt/slideLayouts/slideLayout5.xml" Id="R1b2118635e4c4630" /><Relationship Type="http://schemas.openxmlformats.org/officeDocument/2006/relationships/slideLayout" Target="/ppt/slideLayouts/slideLayout6.xml" Id="R90420cbe3623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5fef97602a483c"/>
    <p:sldLayoutId xmlns:r="http://schemas.openxmlformats.org/officeDocument/2006/relationships" id="2147483650" r:id="R44f0111eca134879"/>
    <p:sldLayoutId xmlns:r="http://schemas.openxmlformats.org/officeDocument/2006/relationships" id="2147483651" r:id="Rffd9a790cf98486f"/>
    <p:sldLayoutId xmlns:r="http://schemas.openxmlformats.org/officeDocument/2006/relationships" id="2147483652" r:id="R0fe39d13c65c4bef"/>
    <p:sldLayoutId xmlns:r="http://schemas.openxmlformats.org/officeDocument/2006/relationships" id="2147483653" r:id="R1b2118635e4c4630"/>
    <p:sldLayoutId xmlns:r="http://schemas.openxmlformats.org/officeDocument/2006/relationships" id="2147483654" r:id="R90420cbe3623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f864ecff24a1a" /><Relationship Type="http://schemas.openxmlformats.org/officeDocument/2006/relationships/notesSlide" Target="/ppt/notesSlides/notesSlide1.xml" Id="R019e23e343ba4d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e016ac5f64154" /><Relationship Type="http://schemas.openxmlformats.org/officeDocument/2006/relationships/notesSlide" Target="/ppt/notesSlides/notesSlide2.xml" Id="R130debcebc7544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00178249946af" /><Relationship Type="http://schemas.openxmlformats.org/officeDocument/2006/relationships/notesSlide" Target="/ppt/notesSlides/notesSlide3.xml" Id="R65b02c0daca9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09a6e453c40ca" /><Relationship Type="http://schemas.openxmlformats.org/officeDocument/2006/relationships/notesSlide" Target="/ppt/notesSlides/notesSlide4.xml" Id="Rf40d4050d85947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C9E25F8E-DEFD-4ABC-A363-D7E62C59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近期工作进展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E213698-6C01-454D-8C22-D6F07EE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5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2B05B-1B23-41C6-8DE3-F9CBA47E076C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10896600" cy="441960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 bandCol="0"/>
              <a:tblGrid>
                <a:gridCol w="3352800"/>
                <a:gridCol w="7543800"/>
              </a:tblGrid>
              <a:tr h="590550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1">
                          <a:solidFill>
                            <a:srgbClr val="800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209550" marR="190500" marT="133350" marB="133350" anchor="ctr">
                    <a:lnL w="7144">
                      <a:solidFill>
                        <a:srgbClr val="000000"/>
                      </a:solidFill>
                      <a:prstDash val="solid"/>
                    </a:lnL>
                    <a:lnR w="7144">
                      <a:solidFill>
                        <a:srgbClr val="000000"/>
                      </a:solidFill>
                      <a:prstDash val="solid"/>
                    </a:lnR>
                    <a:lnT w="7144">
                      <a:solidFill>
                        <a:srgbClr val="000000"/>
                      </a:solidFill>
                      <a:prstDash val="solid"/>
                    </a:lnT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1875" b="1">
                          <a:solidFill>
                            <a:srgbClr val="8000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当前进展</a:t>
                      </a:r>
                    </a:p>
                  </a:txBody>
                  <a:tcPr marL="209550" marR="190500" marT="133350" marB="133350" anchor="ctr">
                    <a:lnR w="7144">
                      <a:solidFill>
                        <a:srgbClr val="000000"/>
                      </a:solidFill>
                      <a:prstDash val="solid"/>
                    </a:lnR>
                    <a:lnT w="7144">
                      <a:solidFill>
                        <a:srgbClr val="000000"/>
                      </a:solidFill>
                      <a:prstDash val="solid"/>
                    </a:lnT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文本版权 Skill</a:t>
                      </a:r>
                    </a:p>
                  </a:txBody>
                  <a:tcPr marL="209550" marR="190500" marT="133350" marB="133350" anchor="ctr">
                    <a:lnL w="7144">
                      <a:solidFill>
                        <a:srgbClr val="000000"/>
                      </a:solidFill>
                      <a:prstDash val="solid"/>
                    </a:lnL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周一已交付初版，尚未测试</a:t>
                      </a:r>
                    </a:p>
                  </a:txBody>
                  <a:tcPr marL="209550" marR="190500" marT="133350" marB="133350" anchor="ctr"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文本版权 Answer 审核</a:t>
                      </a:r>
                    </a:p>
                  </a:txBody>
                  <a:tcPr marL="209550" marR="190500" marT="133350" marB="133350" anchor="ctr">
                    <a:lnL w="7144">
                      <a:solidFill>
                        <a:srgbClr val="000000"/>
                      </a:solidFill>
                      <a:prstDash val="solid"/>
                    </a:lnL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新增数据尚未交付</a:t>
                      </a:r>
                    </a:p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代码变更尚未开发</a:t>
                      </a:r>
                    </a:p>
                  </a:txBody>
                  <a:tcPr marL="209550" marR="190500" marT="133350" marB="133350" anchor="ctr"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图片版权关键字</a:t>
                      </a:r>
                    </a:p>
                  </a:txBody>
                  <a:tcPr marL="209550" marR="190500" marT="133350" marB="133350" anchor="ctr">
                    <a:lnL w="7144">
                      <a:solidFill>
                        <a:srgbClr val="000000"/>
                      </a:solidFill>
                      <a:prstDash val="solid"/>
                    </a:lnL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暂无变更</a:t>
                      </a:r>
                    </a:p>
                  </a:txBody>
                  <a:tcPr marL="209550" marR="190500" marT="133350" marB="133350" anchor="ctr"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 IP 审核模型</a:t>
                      </a:r>
                    </a:p>
                  </a:txBody>
                  <a:tcPr marL="209550" marR="190500" marT="133350" marB="133350" anchor="ctr">
                    <a:lnL w="7144">
                      <a:solidFill>
                        <a:srgbClr val="000000"/>
                      </a:solidFill>
                      <a:prstDash val="solid"/>
                    </a:lnL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审核范围调整</a:t>
                      </a:r>
                    </a:p>
                    <a:p>
                      <a:pPr algn="l">
                        <a:lnSpc>
                          <a:spcPct val="118000"/>
                        </a:lnSpc>
                        <a:buNone/>
                      </a:pPr>
                      <a:r>
                        <a:rPr sz="2025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自测测试集与评估口径调整</a:t>
                      </a:r>
                    </a:p>
                  </a:txBody>
                  <a:tcPr marL="209550" marR="190500" marT="133350" marB="133350" anchor="ctr">
                    <a:lnR w="7144">
                      <a:solidFill>
                        <a:srgbClr val="000000"/>
                      </a:solidFill>
                      <a:prstDash val="solid"/>
                    </a:lnR>
                    <a:lnB w="7144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530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">
            <a:extLst xmlns:a="http://schemas.openxmlformats.org/drawingml/2006/main">
              <a:ext uri="{FF2B5EF4-FFF2-40B4-BE49-F238E27FC236}">
                <a16:creationId xmlns:a16="http://schemas.microsoft.com/office/drawing/2014/main" id="{13B3395A-E8AB-41F1-8420-0D06C19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图片 IP 审核模型：范围调整</a:t>
            </a:r>
          </a:p>
        </p:txBody>
      </p:sp>
      <p:sp>
        <p:nvSpPr>
          <p:cNvPr id="2" name="text-4">
            <a:extLst xmlns:a="http://schemas.openxmlformats.org/drawingml/2006/main">
              <a:ext uri="{FF2B5EF4-FFF2-40B4-BE49-F238E27FC236}">
                <a16:creationId xmlns:a16="http://schemas.microsoft.com/office/drawing/2014/main" id="{2B0C4C38-762E-4A70-8131-3CA89EE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5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5">
            <a:extLst xmlns:a="http://schemas.openxmlformats.org/drawingml/2006/main">
              <a:ext uri="{FF2B5EF4-FFF2-40B4-BE49-F238E27FC236}">
                <a16:creationId xmlns:a16="http://schemas.microsoft.com/office/drawing/2014/main" id="{65FC443B-C7B6-4241-9980-36D170C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1. 缩减范围</a:t>
            </a:r>
          </a:p>
        </p:txBody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0F28D9C2-0701-4068-BD8C-EF24F19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缩减部分动物、真人等不适合模型拦截的形象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58B31B11-66FE-4C8F-AE87-D2FE7AA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漫威：雷神、洛基、火箭浣熊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星球大战：丘巴卡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狮子王：娜娜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自杀小队小丑</a:t>
            </a:r>
          </a:p>
        </p:txBody>
      </p:sp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3927753A-35AA-4725-A7CA-9EA7AFE8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此前缩减的低热度角色</a:t>
            </a:r>
          </a:p>
        </p:txBody>
      </p:sp>
      <p:sp>
        <p:nvSpPr>
          <p:cNvPr id="7" name="text-9">
            <a:extLst xmlns:a="http://schemas.openxmlformats.org/drawingml/2006/main">
              <a:ext uri="{FF2B5EF4-FFF2-40B4-BE49-F238E27FC236}">
                <a16:creationId xmlns:a16="http://schemas.microsoft.com/office/drawing/2014/main" id="{BBB5C323-32C2-4224-B65E-807696AE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大木博士、坂木、君莎小姐、阿凡提</a:t>
            </a:r>
          </a:p>
        </p:txBody>
      </p:sp>
      <p:sp>
        <p:nvSpPr>
          <p:cNvPr id="8" name="text-10">
            <a:extLst xmlns:a="http://schemas.openxmlformats.org/drawingml/2006/main">
              <a:ext uri="{FF2B5EF4-FFF2-40B4-BE49-F238E27FC236}">
                <a16:creationId xmlns:a16="http://schemas.microsoft.com/office/drawing/2014/main" id="{2B07761B-10F7-4B9B-A4EA-AF6EC97A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90650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2. 新增分类</a:t>
            </a:r>
          </a:p>
        </p:txBody>
      </p:sp>
      <p:sp>
        <p:nvSpPr>
          <p:cNvPr id="9" name="text-11">
            <a:extLst xmlns:a="http://schemas.openxmlformats.org/drawingml/2006/main">
              <a:ext uri="{FF2B5EF4-FFF2-40B4-BE49-F238E27FC236}">
                <a16:creationId xmlns:a16="http://schemas.microsoft.com/office/drawing/2014/main" id="{1755B12A-EB2C-49C0-B6ED-4437E8B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已完成标注，尚未加入训练集</a:t>
            </a:r>
          </a:p>
        </p:txBody>
      </p:sp>
      <p:sp>
        <p:nvSpPr>
          <p:cNvPr id="10" name="text-12">
            <a:extLst xmlns:a="http://schemas.openxmlformats.org/drawingml/2006/main">
              <a:ext uri="{FF2B5EF4-FFF2-40B4-BE49-F238E27FC236}">
                <a16:creationId xmlns:a16="http://schemas.microsoft.com/office/drawing/2014/main" id="{672714A2-A4FC-4D74-B6DE-B5920393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52006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星球大战：尤达、古古（尤达宝宝/Grogu）、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风暴兵、R2-D2、C-3PO、达斯·维德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DC 漫画：蝙蝠侠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梦工厂（含照明娱乐）：穿靴子的猫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迪士尼（含皮克斯/福克斯）：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大眼仔麦克（Mike Wazowski）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巴特·辛普森（Bart Simpson）</a:t>
            </a:r>
          </a:p>
        </p:txBody>
      </p:sp>
      <p:sp>
        <p:nvSpPr>
          <p:cNvPr id="11" name="text-13">
            <a:extLst xmlns:a="http://schemas.openxmlformats.org/drawingml/2006/main">
              <a:ext uri="{FF2B5EF4-FFF2-40B4-BE49-F238E27FC236}">
                <a16:creationId xmlns:a16="http://schemas.microsoft.com/office/drawing/2014/main" id="{07E5CC74-E018-46ED-A9A4-E8AB1268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3. 合并分类</a:t>
            </a:r>
          </a:p>
        </p:txBody>
      </p:sp>
      <p:sp>
        <p:nvSpPr>
          <p:cNvPr id="12" name="text-14">
            <a:extLst xmlns:a="http://schemas.openxmlformats.org/drawingml/2006/main">
              <a:ext uri="{FF2B5EF4-FFF2-40B4-BE49-F238E27FC236}">
                <a16:creationId xmlns:a16="http://schemas.microsoft.com/office/drawing/2014/main" id="{869EF099-06BF-4CA0-9D4F-04F3E4B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超人：合并真人、动漫、男超人及女超人形象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绿巨人：合并真人与动漫形象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小丑：合并多个不同形象</a:t>
            </a:r>
          </a:p>
        </p:txBody>
      </p:sp>
      <p:sp>
        <p:nvSpPr>
          <p:cNvPr id="13" name="text-15">
            <a:extLst xmlns:a="http://schemas.openxmlformats.org/drawingml/2006/main">
              <a:ext uri="{FF2B5EF4-FFF2-40B4-BE49-F238E27FC236}">
                <a16:creationId xmlns:a16="http://schemas.microsoft.com/office/drawing/2014/main" id="{7F41A2D3-D6A9-4E1C-AF9A-186F8E20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81525"/>
            <a:ext cx="520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4. 法务指定、尚未加入训练集</a:t>
            </a:r>
          </a:p>
        </p:txBody>
      </p:sp>
      <p:sp>
        <p:nvSpPr>
          <p:cNvPr id="14" name="text-16">
            <a:extLst xmlns:a="http://schemas.openxmlformats.org/drawingml/2006/main">
              <a:ext uri="{FF2B5EF4-FFF2-40B4-BE49-F238E27FC236}">
                <a16:creationId xmlns:a16="http://schemas.microsoft.com/office/drawing/2014/main" id="{F5BAD951-B821-479E-A0B2-7136FF5E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67300"/>
            <a:ext cx="5200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王者荣耀的部分英雄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地下城与勇士（DNF）角色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各类奥特战士及奥特曼反派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星球大战与 DC 的真人形象</a:t>
            </a:r>
          </a:p>
        </p:txBody>
      </p:sp>
    </p:spTree>
    <p:extLst>
      <p:ext uri="{BB962C8B-B14F-4D97-AF65-F5344CB8AC3E}">
        <p14:creationId xmlns:p14="http://schemas.microsoft.com/office/powerpoint/2010/main" val="1604761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8299D407-030C-4689-BFEF-67E7629A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图片 IP 审核模型：指标统计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17506267-3FB8-4079-B0B7-4D218F7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5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00060531-10D2-4644-BE8C-A27E7D87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此前测试集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71A27BBD-1BBB-4930-BA34-8A05927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523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以测试团队构建的测试集为准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各分类样本量不均，从几张到几十张不等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仅有一级大类，未按单个 IP 划分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5185C42A-C6BD-4BD8-9489-16C153E5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4780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本次测试集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24DD8F71-B02A-48EE-90BC-3DD90BB8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5200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按单个 IP 划分，样本分布更均匀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每个 IP 20 张以上</a:t>
            </a:r>
          </a:p>
        </p:txBody>
      </p:sp>
      <p:sp>
        <p:nvSpPr>
          <p:cNvPr id="7" name="text-23">
            <a:extLst xmlns:a="http://schemas.openxmlformats.org/drawingml/2006/main">
              <a:ext uri="{FF2B5EF4-FFF2-40B4-BE49-F238E27FC236}">
                <a16:creationId xmlns:a16="http://schemas.microsoft.com/office/drawing/2014/main" id="{EF22E444-2BBD-4A3F-840F-DC7B1381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已训练多个模型，后续对比检出率与误检率</a:t>
            </a:r>
          </a:p>
        </p:txBody>
      </p:sp>
    </p:spTree>
    <p:extLst>
      <p:ext uri="{BB962C8B-B14F-4D97-AF65-F5344CB8AC3E}">
        <p14:creationId xmlns:p14="http://schemas.microsoft.com/office/powerpoint/2010/main" val="6511084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54D1A334-0C30-45D8-BCE9-82B26ED8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下一步规划与困难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1589AC6F-D1AC-4D26-B98F-3DE14501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52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15CE141D-80D9-404A-BE6C-3263DDA6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下一步规划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7E800078-2D40-4D81-BFD2-9628656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097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00020"/>
                </a:solidFill>
                <a:latin typeface="Microsoft YaHei"/>
                <a:ea typeface="Microsoft YaHei"/>
                <a:cs typeface="Microsoft YaHei"/>
              </a:rPr>
              <a:t>当前困难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5F8726E2-E518-4C12-84C0-7E4753A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 纳入新增分类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75866A01-148C-4E36-A0B1-6822C7B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60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将已标注完成的新增分类加入训练集。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917C2E3B-127E-407B-910A-D4D3D430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 逐张复核第一批图片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A7C8E8D7-38B8-4A78-849D-6BCBC271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5238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第二批（9—10 月）已逐张审核，质量较高。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第一批较杂，已多轮过滤，计划再逐张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复核，统一各分类的特征。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66732EF6-CE3F-42BB-A910-D7D15559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3. 深入分析结果并优化模型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31B261B0-10E4-45AE-9DD9-2B86590B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当前已完成数据准备与初步训练，尚未深入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优化。下一步分析推理结果，持续优化模型。</a:t>
            </a:r>
          </a:p>
        </p:txBody>
      </p:sp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D055E3AE-05A5-458C-8B0E-F98062D5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 动漫形象标准难统一</a:t>
            </a:r>
          </a:p>
        </p:txBody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026825B1-6848-4D45-A4AF-8971962E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86025"/>
            <a:ext cx="5200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日本动漫形象多为二维手绘，缺少固定的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建模参照，画风和形象差异较大，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难以统一特征及数据筛选标准。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5141AE47-E5DC-422B-B3CC-E6AA2737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 逐张审核与人员交接耗时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AF64845E-EF1C-412E-BDC8-7912207C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0075"/>
            <a:ext cx="5200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生成图片与 IP 形象的相似度判断存在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主观差异，需要逐张审核。分类超过 100 个，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人员变更后还需重新讲解各分类特征，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审核与培训的时间成本较高。</a:t>
            </a:r>
          </a:p>
        </p:txBody>
      </p:sp>
    </p:spTree>
    <p:extLst>
      <p:ext uri="{BB962C8B-B14F-4D97-AF65-F5344CB8AC3E}">
        <p14:creationId xmlns:p14="http://schemas.microsoft.com/office/powerpoint/2010/main" val="327886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2026-10-26T06:52:24.3330000Z</dcterms:created>
  <dcterms:modified xsi:type="dcterms:W3CDTF">2026-10-26T06:52:24.3330000Z</dcterms:modified>
</coreProperties>
</file>